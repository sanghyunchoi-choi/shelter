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5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32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47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05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88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04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3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69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7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035F1-6199-4356-9CB2-9EC6500F3CB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8046F-B8C4-4F6B-B969-752A0141FE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74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673" y="-785018"/>
            <a:ext cx="4039070" cy="7346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직사각형 2"/>
          <p:cNvSpPr/>
          <p:nvPr/>
        </p:nvSpPr>
        <p:spPr>
          <a:xfrm>
            <a:off x="2429691" y="744583"/>
            <a:ext cx="1358538" cy="822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380600" y="349125"/>
            <a:ext cx="14076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PAN : PWM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588883" y="2508069"/>
            <a:ext cx="1298008" cy="535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59646" y="2452692"/>
            <a:ext cx="142923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err="1" smtClean="0"/>
              <a:t>Powerboard</a:t>
            </a:r>
            <a:endParaRPr lang="en-US" altLang="ko-KR" dirty="0" smtClean="0"/>
          </a:p>
          <a:p>
            <a:r>
              <a:rPr lang="ko-KR" altLang="en-US" dirty="0" smtClean="0"/>
              <a:t>전원</a:t>
            </a:r>
            <a:r>
              <a:rPr lang="en-US" altLang="ko-KR" dirty="0" smtClean="0"/>
              <a:t>(12V)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223225" y="744583"/>
            <a:ext cx="3379357" cy="613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02583" y="744583"/>
            <a:ext cx="1750424" cy="613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05937" y="349125"/>
            <a:ext cx="13863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Open Relay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602582" y="313292"/>
            <a:ext cx="20322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PAN : Close Relay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134860" y="3043647"/>
            <a:ext cx="662283" cy="549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056937" y="2917567"/>
            <a:ext cx="118974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먼지 센서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108734" y="1729504"/>
            <a:ext cx="662283" cy="778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056937" y="1729504"/>
            <a:ext cx="110799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온도센서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내장형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940299" y="3103165"/>
            <a:ext cx="662283" cy="2265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832858" y="5564972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err="1" smtClean="0"/>
              <a:t>이더넷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354881" y="3796938"/>
            <a:ext cx="1536467" cy="142820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165644" y="5368834"/>
            <a:ext cx="17331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외부 신호 입력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941209" y="3808067"/>
            <a:ext cx="891650" cy="142820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083545" y="5368834"/>
            <a:ext cx="5645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232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673768" y="4376057"/>
            <a:ext cx="1679239" cy="992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014403" y="5445409"/>
            <a:ext cx="267720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485</a:t>
            </a:r>
          </a:p>
          <a:p>
            <a:r>
              <a:rPr lang="ko-KR" altLang="en-US" dirty="0" smtClean="0"/>
              <a:t>좌측부터 </a:t>
            </a:r>
            <a:r>
              <a:rPr lang="en-US" altLang="ko-KR" dirty="0" smtClean="0"/>
              <a:t>1,2,3,4,5 UART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4805937" y="2760728"/>
            <a:ext cx="850280" cy="8327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1423851" y="3396343"/>
            <a:ext cx="3213463" cy="1606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932" y="5118853"/>
            <a:ext cx="5774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RTC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5655021" y="3286899"/>
            <a:ext cx="597516" cy="5386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2416627" y="3642472"/>
            <a:ext cx="3213463" cy="1606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99231" y="5297167"/>
            <a:ext cx="10814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EEPROM</a:t>
            </a:r>
            <a:endParaRPr lang="ko-KR" altLang="en-US" dirty="0"/>
          </a:p>
        </p:txBody>
      </p:sp>
      <p:sp>
        <p:nvSpPr>
          <p:cNvPr id="36" name="타원 35"/>
          <p:cNvSpPr/>
          <p:nvPr/>
        </p:nvSpPr>
        <p:spPr>
          <a:xfrm>
            <a:off x="159646" y="2090057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7" name="타원 36"/>
          <p:cNvSpPr/>
          <p:nvPr/>
        </p:nvSpPr>
        <p:spPr>
          <a:xfrm>
            <a:off x="1950962" y="349125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8" name="타원 37"/>
          <p:cNvSpPr/>
          <p:nvPr/>
        </p:nvSpPr>
        <p:spPr>
          <a:xfrm>
            <a:off x="4443069" y="355985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9" name="타원 38"/>
          <p:cNvSpPr/>
          <p:nvPr/>
        </p:nvSpPr>
        <p:spPr>
          <a:xfrm>
            <a:off x="7209987" y="324859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40" name="타원 39"/>
          <p:cNvSpPr/>
          <p:nvPr/>
        </p:nvSpPr>
        <p:spPr>
          <a:xfrm>
            <a:off x="11323960" y="1740417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1" name="타원 40"/>
          <p:cNvSpPr/>
          <p:nvPr/>
        </p:nvSpPr>
        <p:spPr>
          <a:xfrm>
            <a:off x="6184400" y="5870728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42" name="타원 41"/>
          <p:cNvSpPr/>
          <p:nvPr/>
        </p:nvSpPr>
        <p:spPr>
          <a:xfrm>
            <a:off x="8177310" y="6091254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3" name="타원 42"/>
          <p:cNvSpPr/>
          <p:nvPr/>
        </p:nvSpPr>
        <p:spPr>
          <a:xfrm>
            <a:off x="7028553" y="6130442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44" name="타원 43"/>
          <p:cNvSpPr/>
          <p:nvPr/>
        </p:nvSpPr>
        <p:spPr>
          <a:xfrm>
            <a:off x="11407424" y="2917567"/>
            <a:ext cx="362868" cy="3475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45" name="타원 44"/>
          <p:cNvSpPr/>
          <p:nvPr/>
        </p:nvSpPr>
        <p:spPr>
          <a:xfrm>
            <a:off x="4877941" y="5841106"/>
            <a:ext cx="520569" cy="358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10</a:t>
            </a:r>
            <a:endParaRPr lang="ko-KR" altLang="en-US" sz="1000" dirty="0"/>
          </a:p>
        </p:txBody>
      </p:sp>
      <p:sp>
        <p:nvSpPr>
          <p:cNvPr id="48" name="타원 47"/>
          <p:cNvSpPr/>
          <p:nvPr/>
        </p:nvSpPr>
        <p:spPr>
          <a:xfrm>
            <a:off x="2079671" y="5772121"/>
            <a:ext cx="520569" cy="358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11</a:t>
            </a:r>
            <a:endParaRPr lang="ko-KR" altLang="en-US" sz="1000" dirty="0"/>
          </a:p>
        </p:txBody>
      </p:sp>
      <p:sp>
        <p:nvSpPr>
          <p:cNvPr id="49" name="타원 48"/>
          <p:cNvSpPr/>
          <p:nvPr/>
        </p:nvSpPr>
        <p:spPr>
          <a:xfrm>
            <a:off x="698084" y="5600857"/>
            <a:ext cx="520569" cy="358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4270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290" y="3288108"/>
            <a:ext cx="336540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6. </a:t>
            </a:r>
            <a:r>
              <a:rPr lang="ko-KR" altLang="en-US" sz="1400" dirty="0" smtClean="0"/>
              <a:t>먼지 센서</a:t>
            </a:r>
            <a:endParaRPr lang="en-US" altLang="ko-KR" sz="1400" dirty="0" smtClean="0"/>
          </a:p>
          <a:p>
            <a:r>
              <a:rPr lang="en-US" altLang="ko-KR" sz="1400" dirty="0" smtClean="0"/>
              <a:t>UART8 (</a:t>
            </a:r>
            <a:r>
              <a:rPr lang="en-US" altLang="ko-KR" sz="1400" dirty="0" err="1" smtClean="0"/>
              <a:t>baudrate</a:t>
            </a:r>
            <a:r>
              <a:rPr lang="en-US" altLang="ko-KR" sz="1400" dirty="0" smtClean="0"/>
              <a:t> : 9600)</a:t>
            </a:r>
          </a:p>
          <a:p>
            <a:r>
              <a:rPr lang="en-US" altLang="ko-KR" sz="1400" dirty="0" smtClean="0"/>
              <a:t>PE1,PE0,PB9,PB8</a:t>
            </a:r>
          </a:p>
          <a:p>
            <a:r>
              <a:rPr lang="en-US" altLang="ko-KR" sz="1400" dirty="0" smtClean="0">
                <a:solidFill>
                  <a:srgbClr val="00B050"/>
                </a:solidFill>
              </a:rPr>
              <a:t>UART8_TX, UART8_RX, PM_RST,PM_SET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850" y="652305"/>
            <a:ext cx="331071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en-US" altLang="ko-KR" sz="1400" dirty="0" smtClean="0"/>
              <a:t>. Power control board </a:t>
            </a:r>
            <a:r>
              <a:rPr lang="ko-KR" altLang="en-US" sz="1400" dirty="0" err="1" smtClean="0"/>
              <a:t>전원단자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: 12V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849" y="1100019"/>
            <a:ext cx="369344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2. PWM Pan(COOLER) </a:t>
            </a:r>
            <a:r>
              <a:rPr lang="ko-KR" altLang="en-US" sz="1400" dirty="0" smtClean="0"/>
              <a:t>제어</a:t>
            </a:r>
            <a:endParaRPr lang="en-US" altLang="ko-KR" sz="1400" dirty="0"/>
          </a:p>
          <a:p>
            <a:r>
              <a:rPr lang="en-US" altLang="ko-KR" sz="1400" dirty="0" smtClean="0"/>
              <a:t>PWM </a:t>
            </a:r>
            <a:r>
              <a:rPr lang="ko-KR" altLang="en-US" sz="1400" dirty="0" smtClean="0"/>
              <a:t>출력 </a:t>
            </a:r>
            <a:r>
              <a:rPr lang="en-US" altLang="ko-KR" sz="1400" dirty="0" smtClean="0"/>
              <a:t>Port : PE11(TIM1_CH2)</a:t>
            </a:r>
          </a:p>
          <a:p>
            <a:r>
              <a:rPr lang="ko-KR" altLang="en-US" sz="1400" dirty="0" smtClean="0"/>
              <a:t>회전 수 체크 입력 </a:t>
            </a:r>
            <a:r>
              <a:rPr lang="en-US" altLang="ko-KR" sz="1400" dirty="0" smtClean="0"/>
              <a:t>PORT : PE13(TIM1_CH3)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290" y="1978620"/>
            <a:ext cx="2271776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5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온도 센서</a:t>
            </a:r>
            <a:r>
              <a:rPr lang="en-US" altLang="ko-KR" sz="1400" dirty="0" smtClean="0"/>
              <a:t>(2</a:t>
            </a:r>
            <a:r>
              <a:rPr lang="ko-KR" altLang="en-US" sz="1400" dirty="0" smtClean="0"/>
              <a:t>개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그림 상에서 위쪽 </a:t>
            </a:r>
            <a:r>
              <a:rPr lang="en-US" altLang="ko-KR" sz="1400" dirty="0" smtClean="0"/>
              <a:t>: I2C2</a:t>
            </a:r>
          </a:p>
          <a:p>
            <a:r>
              <a:rPr lang="en-US" altLang="ko-KR" sz="1400" dirty="0" smtClean="0"/>
              <a:t>PF0 : SDA, PF1 : SCL</a:t>
            </a:r>
          </a:p>
          <a:p>
            <a:r>
              <a:rPr lang="ko-KR" altLang="en-US" sz="1400" dirty="0" smtClean="0"/>
              <a:t>그림 상에서 아래쪽 </a:t>
            </a:r>
            <a:r>
              <a:rPr lang="en-US" altLang="ko-KR" sz="1400" dirty="0" smtClean="0"/>
              <a:t>: I2C4</a:t>
            </a:r>
          </a:p>
          <a:p>
            <a:r>
              <a:rPr lang="en-US" altLang="ko-KR" sz="1400" dirty="0" smtClean="0"/>
              <a:t>PB7 : SDA, PB6 : SCL 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t="49664" r="69791" b="36581"/>
          <a:stretch/>
        </p:blipFill>
        <p:spPr>
          <a:xfrm rot="16200000">
            <a:off x="6357257" y="1432725"/>
            <a:ext cx="1623904" cy="1249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55849" y="4382152"/>
            <a:ext cx="9252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8. </a:t>
            </a:r>
            <a:r>
              <a:rPr lang="ko-KR" altLang="en-US" sz="1400" dirty="0" err="1" smtClean="0"/>
              <a:t>이더넷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84406" y="734552"/>
            <a:ext cx="68480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9</a:t>
            </a:r>
            <a:r>
              <a:rPr lang="en-US" altLang="ko-KR" sz="1400" dirty="0" smtClean="0"/>
              <a:t>. 232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76798" y="3154527"/>
            <a:ext cx="1249829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/>
              <a:t>좌측 </a:t>
            </a:r>
            <a:r>
              <a:rPr lang="en-US" altLang="ko-KR" sz="1400" dirty="0" smtClean="0"/>
              <a:t>: UART6</a:t>
            </a:r>
          </a:p>
          <a:p>
            <a:r>
              <a:rPr lang="en-US" altLang="ko-KR" sz="1400" dirty="0" smtClean="0"/>
              <a:t>PC6, PC7</a:t>
            </a:r>
          </a:p>
          <a:p>
            <a:r>
              <a:rPr lang="en-US" altLang="ko-KR" sz="1400" dirty="0" err="1" smtClean="0"/>
              <a:t>Tx,rx,gnd</a:t>
            </a:r>
            <a:endParaRPr lang="en-US" altLang="ko-KR" sz="14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7458932" y="3174405"/>
            <a:ext cx="1249829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/>
              <a:t>우측 </a:t>
            </a:r>
            <a:r>
              <a:rPr lang="en-US" altLang="ko-KR" sz="1400" dirty="0" smtClean="0"/>
              <a:t>: UART7</a:t>
            </a:r>
            <a:endParaRPr lang="en-US" altLang="ko-KR" sz="1400" dirty="0"/>
          </a:p>
          <a:p>
            <a:r>
              <a:rPr lang="en-US" altLang="ko-KR" sz="1400" dirty="0" smtClean="0"/>
              <a:t>PF6, PF7</a:t>
            </a:r>
          </a:p>
          <a:p>
            <a:r>
              <a:rPr lang="en-US" altLang="ko-KR" sz="1400" dirty="0" err="1" smtClean="0"/>
              <a:t>Tx,rx,gnd</a:t>
            </a:r>
            <a:endParaRPr lang="en-US" altLang="ko-KR" sz="14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69409" y="4829866"/>
            <a:ext cx="343215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11. EEPROM</a:t>
            </a:r>
          </a:p>
          <a:p>
            <a:r>
              <a:rPr lang="en-US" altLang="ko-KR" sz="1400" dirty="0"/>
              <a:t>PG13,PG13,PG12,PG11</a:t>
            </a:r>
          </a:p>
          <a:p>
            <a:r>
              <a:rPr lang="en-US" altLang="ko-KR" sz="1400" dirty="0">
                <a:solidFill>
                  <a:srgbClr val="00B050"/>
                </a:solidFill>
              </a:rPr>
              <a:t>SPI6_MOSI, SPI6_SCK,SPI6_MISO,EEP_CS</a:t>
            </a:r>
          </a:p>
          <a:p>
            <a:endParaRPr lang="en-US" altLang="ko-KR" sz="14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69409" y="5850370"/>
            <a:ext cx="274357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12. RTC</a:t>
            </a:r>
          </a:p>
          <a:p>
            <a:r>
              <a:rPr lang="en-US" altLang="ko-KR" sz="1400" dirty="0">
                <a:solidFill>
                  <a:srgbClr val="00B050"/>
                </a:solidFill>
              </a:rPr>
              <a:t>PA8 : I2C3_SCL, PA9 : </a:t>
            </a:r>
            <a:r>
              <a:rPr lang="en-US" altLang="ko-KR" sz="1400" dirty="0" smtClean="0">
                <a:solidFill>
                  <a:srgbClr val="00B050"/>
                </a:solidFill>
              </a:rPr>
              <a:t>I2C3_SDA</a:t>
            </a:r>
            <a:endParaRPr lang="en-US" altLang="ko-KR" sz="1400" dirty="0">
              <a:solidFill>
                <a:srgbClr val="00B05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22514" y="483325"/>
            <a:ext cx="8699863" cy="5956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125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75254"/>
          <a:stretch/>
        </p:blipFill>
        <p:spPr>
          <a:xfrm rot="16200000">
            <a:off x="3612666" y="-2030489"/>
            <a:ext cx="999486" cy="7346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453426" y="571633"/>
            <a:ext cx="3189728" cy="30777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/>
              <a:t>3. Open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3077" y="571634"/>
            <a:ext cx="1273747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4. Close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53" y="3337058"/>
            <a:ext cx="9622827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(CLOSE RELAY) </a:t>
            </a:r>
            <a:r>
              <a:rPr lang="ko-KR" altLang="en-US" sz="1600" dirty="0" smtClean="0"/>
              <a:t>좌측부터 </a:t>
            </a:r>
            <a:endParaRPr lang="en-US" altLang="ko-KR" sz="1600" dirty="0" smtClean="0"/>
          </a:p>
          <a:p>
            <a:r>
              <a:rPr lang="en-US" altLang="ko-KR" sz="1600" dirty="0" smtClean="0"/>
              <a:t>PF11,PB2, PB1, PB0, PC5</a:t>
            </a:r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RELAY_5, RELAY_4, RELAY_3, RELAY_2, RELAY_1</a:t>
            </a:r>
            <a:endParaRPr lang="en-US" altLang="ko-KR" sz="1600" dirty="0">
              <a:solidFill>
                <a:srgbClr val="00B050"/>
              </a:solidFill>
            </a:endParaRP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(OPEN RELAY)</a:t>
            </a:r>
            <a:r>
              <a:rPr lang="ko-KR" altLang="en-US" sz="1600" dirty="0" smtClean="0"/>
              <a:t>좌측부터</a:t>
            </a:r>
            <a:endParaRPr lang="en-US" altLang="ko-KR" sz="1600" dirty="0" smtClean="0"/>
          </a:p>
          <a:p>
            <a:r>
              <a:rPr lang="en-US" altLang="ko-KR" sz="1600" dirty="0" smtClean="0"/>
              <a:t>PE10,PE9,PE8,PE7,PG1, PG0,PF15, PF14, PF13, PF12, </a:t>
            </a:r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RELAY_15, RELAY_14, RELAY_13, RELAY_12, RELAY_11, RELAY_10, RELAY_9, RELAY_8, RELAY_7, RELAY_6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15330" y="163756"/>
            <a:ext cx="10429102" cy="56027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88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461" y="206084"/>
            <a:ext cx="622286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7.485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5838" r="54907"/>
          <a:stretch/>
        </p:blipFill>
        <p:spPr>
          <a:xfrm rot="16200000">
            <a:off x="5954269" y="53654"/>
            <a:ext cx="2424004" cy="3103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57462" y="716660"/>
            <a:ext cx="1716488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 smtClean="0"/>
              <a:t>UART1</a:t>
            </a:r>
            <a:r>
              <a:rPr lang="en-US" altLang="ko-KR" sz="1000" dirty="0" smtClean="0">
                <a:solidFill>
                  <a:srgbClr val="FF0000"/>
                </a:solidFill>
              </a:rPr>
              <a:t>(</a:t>
            </a:r>
            <a:r>
              <a:rPr lang="ko-KR" altLang="en-US" sz="1000" dirty="0" smtClean="0">
                <a:solidFill>
                  <a:srgbClr val="FF0000"/>
                </a:solidFill>
              </a:rPr>
              <a:t>미사용</a:t>
            </a:r>
            <a:r>
              <a:rPr lang="en-US" altLang="ko-KR" sz="10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000" dirty="0" smtClean="0"/>
              <a:t>PA9,PA10 ,pin (T+,T-)</a:t>
            </a:r>
          </a:p>
          <a:p>
            <a:r>
              <a:rPr lang="en-US" altLang="ko-KR" sz="1000" dirty="0" smtClean="0"/>
              <a:t>DIR : PA11, </a:t>
            </a:r>
            <a:r>
              <a:rPr lang="en-US" altLang="ko-KR" sz="1000" dirty="0" smtClean="0">
                <a:solidFill>
                  <a:srgbClr val="00B050"/>
                </a:solidFill>
              </a:rPr>
              <a:t>DIR1_485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462" y="1420443"/>
            <a:ext cx="1671605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 smtClean="0"/>
              <a:t>USART2</a:t>
            </a:r>
            <a:r>
              <a:rPr lang="en-US" altLang="ko-KR" sz="1000" dirty="0" smtClean="0">
                <a:solidFill>
                  <a:srgbClr val="FF0000"/>
                </a:solidFill>
              </a:rPr>
              <a:t>(</a:t>
            </a:r>
            <a:r>
              <a:rPr lang="ko-KR" altLang="en-US" sz="1000" dirty="0" smtClean="0">
                <a:solidFill>
                  <a:srgbClr val="FF0000"/>
                </a:solidFill>
              </a:rPr>
              <a:t>미사용</a:t>
            </a:r>
            <a:r>
              <a:rPr lang="en-US" altLang="ko-KR" sz="10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000" dirty="0" smtClean="0"/>
              <a:t>PA2, </a:t>
            </a:r>
            <a:r>
              <a:rPr lang="en-US" altLang="ko-KR" sz="1000" dirty="0"/>
              <a:t>PA3 ,pin </a:t>
            </a:r>
            <a:r>
              <a:rPr lang="en-US" altLang="ko-KR" sz="1000" dirty="0" smtClean="0"/>
              <a:t>(</a:t>
            </a:r>
            <a:r>
              <a:rPr lang="en-US" altLang="ko-KR" sz="1000" dirty="0"/>
              <a:t>T+,T-)</a:t>
            </a:r>
            <a:endParaRPr lang="en-US" altLang="ko-KR" sz="1000" dirty="0" smtClean="0"/>
          </a:p>
          <a:p>
            <a:r>
              <a:rPr lang="en-US" altLang="ko-KR" sz="1000" dirty="0" smtClean="0"/>
              <a:t>DIR : PC1</a:t>
            </a:r>
            <a:r>
              <a:rPr lang="en-US" altLang="ko-KR" sz="1000" dirty="0"/>
              <a:t> , </a:t>
            </a:r>
            <a:r>
              <a:rPr lang="en-US" altLang="ko-KR" sz="1000" dirty="0" smtClean="0">
                <a:solidFill>
                  <a:srgbClr val="00B050"/>
                </a:solidFill>
              </a:rPr>
              <a:t>DIR2_485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462" y="2828009"/>
            <a:ext cx="1671604" cy="55399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 smtClean="0"/>
              <a:t>UART4</a:t>
            </a:r>
            <a:r>
              <a:rPr lang="en-US" altLang="ko-KR" sz="1000" dirty="0" smtClean="0">
                <a:solidFill>
                  <a:srgbClr val="FF0000"/>
                </a:solidFill>
              </a:rPr>
              <a:t>(LG AIRCON)</a:t>
            </a:r>
          </a:p>
          <a:p>
            <a:r>
              <a:rPr lang="en-US" altLang="ko-KR" sz="1000" dirty="0" smtClean="0"/>
              <a:t>PA0, </a:t>
            </a:r>
            <a:r>
              <a:rPr lang="en-US" altLang="ko-KR" sz="1000" dirty="0"/>
              <a:t>PA1 ,pin </a:t>
            </a:r>
            <a:r>
              <a:rPr lang="en-US" altLang="ko-KR" sz="1000" dirty="0" smtClean="0"/>
              <a:t>(</a:t>
            </a:r>
            <a:r>
              <a:rPr lang="en-US" altLang="ko-KR" sz="1000" dirty="0"/>
              <a:t>T+,T-)</a:t>
            </a:r>
            <a:endParaRPr lang="en-US" altLang="ko-KR" sz="1000" dirty="0" smtClean="0"/>
          </a:p>
          <a:p>
            <a:r>
              <a:rPr lang="en-US" altLang="ko-KR" sz="1000" dirty="0" smtClean="0"/>
              <a:t>DIR </a:t>
            </a:r>
            <a:r>
              <a:rPr lang="en-US" altLang="ko-KR" sz="1000" dirty="0"/>
              <a:t>: </a:t>
            </a:r>
            <a:r>
              <a:rPr lang="en-US" altLang="ko-KR" sz="1000" dirty="0" smtClean="0"/>
              <a:t>PC0</a:t>
            </a:r>
            <a:r>
              <a:rPr lang="en-US" altLang="ko-KR" sz="1000" dirty="0"/>
              <a:t> , </a:t>
            </a:r>
            <a:r>
              <a:rPr lang="en-US" altLang="ko-KR" sz="1000" dirty="0" smtClean="0">
                <a:solidFill>
                  <a:srgbClr val="00B050"/>
                </a:solidFill>
              </a:rPr>
              <a:t>DIR4_485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462" y="2124226"/>
            <a:ext cx="1928213" cy="55399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 smtClean="0"/>
              <a:t>USART3</a:t>
            </a:r>
            <a:r>
              <a:rPr lang="en-US" altLang="ko-KR" sz="1000" dirty="0" smtClean="0">
                <a:solidFill>
                  <a:srgbClr val="FF0000"/>
                </a:solidFill>
              </a:rPr>
              <a:t>(HIMPEL)</a:t>
            </a:r>
          </a:p>
          <a:p>
            <a:r>
              <a:rPr lang="en-US" altLang="ko-KR" sz="1000" dirty="0" smtClean="0"/>
              <a:t>PB10, </a:t>
            </a:r>
            <a:r>
              <a:rPr lang="en-US" altLang="ko-KR" sz="1000" dirty="0"/>
              <a:t>PB11 ,pin </a:t>
            </a:r>
            <a:r>
              <a:rPr lang="en-US" altLang="ko-KR" sz="1000" dirty="0" smtClean="0"/>
              <a:t>(</a:t>
            </a:r>
            <a:r>
              <a:rPr lang="en-US" altLang="ko-KR" sz="1000" dirty="0"/>
              <a:t>T+,T-)</a:t>
            </a:r>
            <a:endParaRPr lang="en-US" altLang="ko-KR" sz="1000" dirty="0" smtClean="0"/>
          </a:p>
          <a:p>
            <a:r>
              <a:rPr lang="en-US" altLang="ko-KR" sz="1000" dirty="0" smtClean="0"/>
              <a:t>DIR </a:t>
            </a:r>
            <a:r>
              <a:rPr lang="en-US" altLang="ko-KR" sz="1000" dirty="0"/>
              <a:t>: </a:t>
            </a:r>
            <a:r>
              <a:rPr lang="en-US" altLang="ko-KR" sz="1000" dirty="0" smtClean="0"/>
              <a:t>PB15</a:t>
            </a:r>
            <a:r>
              <a:rPr lang="en-US" altLang="ko-KR" sz="1000" dirty="0"/>
              <a:t> , </a:t>
            </a:r>
            <a:r>
              <a:rPr lang="en-US" altLang="ko-KR" sz="1000" dirty="0" smtClean="0">
                <a:solidFill>
                  <a:srgbClr val="00B050"/>
                </a:solidFill>
              </a:rPr>
              <a:t>DIR3_485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462" y="3531793"/>
            <a:ext cx="1928212" cy="55399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 smtClean="0"/>
              <a:t>UART5</a:t>
            </a:r>
            <a:r>
              <a:rPr lang="en-US" altLang="ko-KR" sz="1000" dirty="0" smtClean="0">
                <a:solidFill>
                  <a:srgbClr val="FF0000"/>
                </a:solidFill>
              </a:rPr>
              <a:t>(POWER BOARD)</a:t>
            </a:r>
          </a:p>
          <a:p>
            <a:r>
              <a:rPr lang="en-US" altLang="ko-KR" sz="1000" dirty="0" smtClean="0"/>
              <a:t>PB12, PB13</a:t>
            </a:r>
            <a:r>
              <a:rPr lang="en-US" altLang="ko-KR" sz="1000" dirty="0"/>
              <a:t> ,pin</a:t>
            </a:r>
            <a:r>
              <a:rPr lang="en-US" altLang="ko-KR" sz="1000" dirty="0" smtClean="0"/>
              <a:t> </a:t>
            </a:r>
            <a:r>
              <a:rPr lang="en-US" altLang="ko-KR" sz="1000" dirty="0"/>
              <a:t>(T+,T-)</a:t>
            </a:r>
            <a:endParaRPr lang="en-US" altLang="ko-KR" sz="1000" dirty="0" smtClean="0"/>
          </a:p>
          <a:p>
            <a:r>
              <a:rPr lang="en-US" altLang="ko-KR" sz="1000" dirty="0" smtClean="0"/>
              <a:t>DIR </a:t>
            </a:r>
            <a:r>
              <a:rPr lang="en-US" altLang="ko-KR" sz="1000" dirty="0"/>
              <a:t>: </a:t>
            </a:r>
            <a:r>
              <a:rPr lang="en-US" altLang="ko-KR" sz="1000" dirty="0" smtClean="0"/>
              <a:t>PB14</a:t>
            </a:r>
            <a:r>
              <a:rPr lang="en-US" altLang="ko-KR" sz="1000" dirty="0"/>
              <a:t> , </a:t>
            </a:r>
            <a:r>
              <a:rPr lang="en-US" altLang="ko-KR" sz="1000" dirty="0" smtClean="0">
                <a:solidFill>
                  <a:srgbClr val="00B050"/>
                </a:solidFill>
              </a:rPr>
              <a:t>DIR5_485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2285675" y="1039825"/>
            <a:ext cx="3758485" cy="1891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2285675" y="1362991"/>
            <a:ext cx="4211330" cy="4030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2393087" y="1362992"/>
            <a:ext cx="4513221" cy="10730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2136479" y="1442877"/>
            <a:ext cx="5092046" cy="16196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2296505" y="1442878"/>
            <a:ext cx="5289072" cy="23659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r="69700" b="50679"/>
          <a:stretch/>
        </p:blipFill>
        <p:spPr>
          <a:xfrm rot="16200000">
            <a:off x="1557135" y="3698256"/>
            <a:ext cx="1223847" cy="3623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357461" y="4344466"/>
            <a:ext cx="168828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10. </a:t>
            </a:r>
            <a:r>
              <a:rPr lang="ko-KR" altLang="en-US" sz="1400" dirty="0" smtClean="0"/>
              <a:t>외부 신호 입력</a:t>
            </a:r>
            <a:endParaRPr lang="en-US" altLang="ko-KR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703033" y="4890973"/>
            <a:ext cx="4015081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smtClean="0"/>
              <a:t>좌측부터 </a:t>
            </a:r>
            <a:endParaRPr lang="en-US" altLang="ko-KR" sz="1600" dirty="0" smtClean="0"/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PD4, PD5, PD6,PD7</a:t>
            </a:r>
          </a:p>
          <a:p>
            <a:r>
              <a:rPr lang="en-US" altLang="ko-KR" sz="1600" dirty="0" smtClean="0"/>
              <a:t>PHOTO_5, PHOTO_6,PHOTO_7, PHOTO_8,</a:t>
            </a:r>
          </a:p>
          <a:p>
            <a:endParaRPr lang="en-US" altLang="ko-KR" sz="1600" dirty="0" smtClean="0"/>
          </a:p>
        </p:txBody>
      </p:sp>
      <p:sp>
        <p:nvSpPr>
          <p:cNvPr id="22" name="직사각형 21"/>
          <p:cNvSpPr/>
          <p:nvPr/>
        </p:nvSpPr>
        <p:spPr>
          <a:xfrm>
            <a:off x="115330" y="4250724"/>
            <a:ext cx="9316994" cy="23313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15330" y="81376"/>
            <a:ext cx="9316994" cy="40869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5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27" y="250141"/>
            <a:ext cx="1435217" cy="1453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85827" y="1897763"/>
            <a:ext cx="17443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온도센서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내부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보드 장착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모델명 </a:t>
            </a:r>
            <a:r>
              <a:rPr lang="en-US" altLang="ko-KR" sz="1400" dirty="0" smtClean="0"/>
              <a:t>: HCS2D-3V</a:t>
            </a:r>
          </a:p>
          <a:p>
            <a:r>
              <a:rPr lang="en-US" altLang="ko-KR" sz="1400" dirty="0" smtClean="0"/>
              <a:t>(I2C</a:t>
            </a:r>
            <a:r>
              <a:rPr lang="ko-KR" altLang="en-US" sz="1400" dirty="0" smtClean="0"/>
              <a:t>통신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67" y="250141"/>
            <a:ext cx="2114137" cy="14683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673084" y="2650327"/>
            <a:ext cx="20734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온도센서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외부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라인연결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모델명 </a:t>
            </a:r>
            <a:r>
              <a:rPr lang="en-US" altLang="ko-KR" sz="1400" dirty="0" smtClean="0"/>
              <a:t>: CWT-TH03S-H</a:t>
            </a:r>
          </a:p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모드 버스 통신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121935" y="2050163"/>
            <a:ext cx="20136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먼지센서</a:t>
            </a:r>
            <a:endParaRPr lang="en-US" altLang="ko-KR" sz="1400" dirty="0" smtClean="0"/>
          </a:p>
          <a:p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라인연결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모델명 </a:t>
            </a:r>
            <a:r>
              <a:rPr lang="en-US" altLang="ko-KR" sz="1400" dirty="0" smtClean="0"/>
              <a:t>: UPD-M010UB</a:t>
            </a:r>
          </a:p>
          <a:p>
            <a:r>
              <a:rPr lang="en-US" altLang="ko-KR" sz="1400" dirty="0" smtClean="0"/>
              <a:t>(232 </a:t>
            </a:r>
            <a:r>
              <a:rPr lang="ko-KR" altLang="en-US" sz="1400" dirty="0" smtClean="0"/>
              <a:t>통신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057" y="250141"/>
            <a:ext cx="2283673" cy="1995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567" y="4237353"/>
            <a:ext cx="2314898" cy="16290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746188" y="6089974"/>
            <a:ext cx="2004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대안 </a:t>
            </a:r>
            <a:r>
              <a:rPr lang="en-US" altLang="ko-KR" dirty="0" smtClean="0"/>
              <a:t>1 : PSMU2.5</a:t>
            </a:r>
          </a:p>
          <a:p>
            <a:r>
              <a:rPr lang="en-US" altLang="ko-KR" dirty="0" smtClean="0"/>
              <a:t>(232</a:t>
            </a:r>
            <a:r>
              <a:rPr lang="ko-KR" altLang="en-US" dirty="0" smtClean="0"/>
              <a:t>통신</a:t>
            </a:r>
            <a:r>
              <a:rPr lang="en-US" altLang="ko-KR" dirty="0" smtClean="0"/>
              <a:t>)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939387" y="2650327"/>
            <a:ext cx="13917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쿨러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팬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라인연결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모델 명</a:t>
            </a:r>
            <a:r>
              <a:rPr lang="en-US" altLang="ko-KR" sz="1400" dirty="0" smtClean="0"/>
              <a:t>P8 Max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86" y="250141"/>
            <a:ext cx="2076740" cy="20576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직사각형 11"/>
          <p:cNvSpPr/>
          <p:nvPr/>
        </p:nvSpPr>
        <p:spPr>
          <a:xfrm>
            <a:off x="172995" y="82378"/>
            <a:ext cx="11195221" cy="383883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72994" y="4088974"/>
            <a:ext cx="11195221" cy="2647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4800" y="4237353"/>
            <a:ext cx="2117887" cy="78483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500" dirty="0" smtClean="0"/>
              <a:t>대체 가능 제품이나</a:t>
            </a:r>
            <a:r>
              <a:rPr lang="en-US" altLang="ko-KR" sz="1500" dirty="0" smtClean="0"/>
              <a:t>,</a:t>
            </a:r>
          </a:p>
          <a:p>
            <a:r>
              <a:rPr lang="ko-KR" altLang="en-US" sz="1500" dirty="0" smtClean="0"/>
              <a:t>코딩을 하나 더 구성을</a:t>
            </a:r>
            <a:endParaRPr lang="en-US" altLang="ko-KR" sz="1500" dirty="0" smtClean="0"/>
          </a:p>
          <a:p>
            <a:r>
              <a:rPr lang="ko-KR" altLang="en-US" sz="1500" dirty="0" smtClean="0"/>
              <a:t>해야 할 듯 보임</a:t>
            </a:r>
            <a:r>
              <a:rPr lang="en-US" altLang="ko-KR" sz="1500" dirty="0" smtClean="0"/>
              <a:t>.</a:t>
            </a:r>
          </a:p>
        </p:txBody>
      </p:sp>
      <p:sp>
        <p:nvSpPr>
          <p:cNvPr id="15" name="아래쪽 화살표 14"/>
          <p:cNvSpPr/>
          <p:nvPr/>
        </p:nvSpPr>
        <p:spPr>
          <a:xfrm>
            <a:off x="3624649" y="3204519"/>
            <a:ext cx="321275" cy="96382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1581665" y="3604434"/>
            <a:ext cx="3995351" cy="313187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750263" y="82379"/>
            <a:ext cx="3995351" cy="36093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8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673" y="-785018"/>
            <a:ext cx="4039070" cy="7346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직사각형 2"/>
          <p:cNvSpPr/>
          <p:nvPr/>
        </p:nvSpPr>
        <p:spPr>
          <a:xfrm>
            <a:off x="2429691" y="744583"/>
            <a:ext cx="1358538" cy="822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380600" y="349125"/>
            <a:ext cx="14076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PAN : PWM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588883" y="2508069"/>
            <a:ext cx="1298008" cy="535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59646" y="2452692"/>
            <a:ext cx="142923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err="1" smtClean="0"/>
              <a:t>Powerboard</a:t>
            </a:r>
            <a:endParaRPr lang="en-US" altLang="ko-KR" dirty="0" smtClean="0"/>
          </a:p>
          <a:p>
            <a:r>
              <a:rPr lang="ko-KR" altLang="en-US" dirty="0" smtClean="0"/>
              <a:t>전원</a:t>
            </a:r>
            <a:r>
              <a:rPr lang="en-US" altLang="ko-KR" dirty="0" smtClean="0"/>
              <a:t>(12V)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223225" y="744583"/>
            <a:ext cx="3379357" cy="613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02583" y="744583"/>
            <a:ext cx="1750424" cy="613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05937" y="349125"/>
            <a:ext cx="13863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Open Relay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602582" y="313292"/>
            <a:ext cx="13767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Close Relay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134860" y="3043647"/>
            <a:ext cx="662283" cy="549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056937" y="2917567"/>
            <a:ext cx="118974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먼지 센서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108734" y="2090057"/>
            <a:ext cx="662283" cy="9535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056937" y="2114397"/>
            <a:ext cx="110799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온도센서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내장형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940299" y="3103165"/>
            <a:ext cx="662283" cy="22656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832858" y="5564972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err="1" smtClean="0"/>
              <a:t>이더넷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354881" y="3796938"/>
            <a:ext cx="1536467" cy="142820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165644" y="5368834"/>
            <a:ext cx="17331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외부 신호 입력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941209" y="3808067"/>
            <a:ext cx="891650" cy="142820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083545" y="5368834"/>
            <a:ext cx="5645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232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673768" y="4376057"/>
            <a:ext cx="1679239" cy="992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074805" y="5564972"/>
            <a:ext cx="5645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485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4805937" y="2760728"/>
            <a:ext cx="850280" cy="8327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1423851" y="3396343"/>
            <a:ext cx="3213463" cy="1606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932" y="5118853"/>
            <a:ext cx="5774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RTC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5655021" y="3286899"/>
            <a:ext cx="597516" cy="5386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2416627" y="3642472"/>
            <a:ext cx="3213463" cy="1606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99231" y="5297167"/>
            <a:ext cx="10814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EEPROM</a:t>
            </a:r>
            <a:endParaRPr lang="ko-KR" altLang="en-US" dirty="0"/>
          </a:p>
        </p:txBody>
      </p:sp>
      <p:sp>
        <p:nvSpPr>
          <p:cNvPr id="36" name="타원 35"/>
          <p:cNvSpPr/>
          <p:nvPr/>
        </p:nvSpPr>
        <p:spPr>
          <a:xfrm>
            <a:off x="159646" y="2090057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7" name="타원 36"/>
          <p:cNvSpPr/>
          <p:nvPr/>
        </p:nvSpPr>
        <p:spPr>
          <a:xfrm>
            <a:off x="1950962" y="349125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8" name="타원 37"/>
          <p:cNvSpPr/>
          <p:nvPr/>
        </p:nvSpPr>
        <p:spPr>
          <a:xfrm>
            <a:off x="4443069" y="355985"/>
            <a:ext cx="362868" cy="34750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9" name="타원 38"/>
          <p:cNvSpPr/>
          <p:nvPr/>
        </p:nvSpPr>
        <p:spPr>
          <a:xfrm>
            <a:off x="7209987" y="324859"/>
            <a:ext cx="362868" cy="34750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40" name="타원 39"/>
          <p:cNvSpPr/>
          <p:nvPr/>
        </p:nvSpPr>
        <p:spPr>
          <a:xfrm>
            <a:off x="11323960" y="2125310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1" name="타원 40"/>
          <p:cNvSpPr/>
          <p:nvPr/>
        </p:nvSpPr>
        <p:spPr>
          <a:xfrm>
            <a:off x="6184400" y="5870728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42" name="타원 41"/>
          <p:cNvSpPr/>
          <p:nvPr/>
        </p:nvSpPr>
        <p:spPr>
          <a:xfrm>
            <a:off x="8177310" y="6091254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3" name="타원 42"/>
          <p:cNvSpPr/>
          <p:nvPr/>
        </p:nvSpPr>
        <p:spPr>
          <a:xfrm>
            <a:off x="7028553" y="6130442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44" name="타원 43"/>
          <p:cNvSpPr/>
          <p:nvPr/>
        </p:nvSpPr>
        <p:spPr>
          <a:xfrm>
            <a:off x="11407424" y="2917567"/>
            <a:ext cx="362868" cy="3475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45" name="타원 44"/>
          <p:cNvSpPr/>
          <p:nvPr/>
        </p:nvSpPr>
        <p:spPr>
          <a:xfrm>
            <a:off x="4877941" y="5841106"/>
            <a:ext cx="520569" cy="35832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10</a:t>
            </a:r>
            <a:endParaRPr lang="ko-KR" altLang="en-US" sz="1000" dirty="0"/>
          </a:p>
        </p:txBody>
      </p:sp>
      <p:sp>
        <p:nvSpPr>
          <p:cNvPr id="48" name="타원 47"/>
          <p:cNvSpPr/>
          <p:nvPr/>
        </p:nvSpPr>
        <p:spPr>
          <a:xfrm>
            <a:off x="2079671" y="5772121"/>
            <a:ext cx="520569" cy="35832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11</a:t>
            </a:r>
            <a:endParaRPr lang="ko-KR" altLang="en-US" sz="1000" dirty="0"/>
          </a:p>
        </p:txBody>
      </p:sp>
      <p:sp>
        <p:nvSpPr>
          <p:cNvPr id="49" name="타원 48"/>
          <p:cNvSpPr/>
          <p:nvPr/>
        </p:nvSpPr>
        <p:spPr>
          <a:xfrm>
            <a:off x="698084" y="5600857"/>
            <a:ext cx="520569" cy="35832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12</a:t>
            </a:r>
            <a:endParaRPr lang="ko-KR" altLang="en-US" sz="1000" dirty="0"/>
          </a:p>
        </p:txBody>
      </p:sp>
      <p:sp>
        <p:nvSpPr>
          <p:cNvPr id="46" name="타원 45"/>
          <p:cNvSpPr/>
          <p:nvPr/>
        </p:nvSpPr>
        <p:spPr>
          <a:xfrm>
            <a:off x="4106697" y="2380133"/>
            <a:ext cx="850280" cy="8327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942042" y="3022217"/>
            <a:ext cx="3213463" cy="1606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320568" y="4628948"/>
            <a:ext cx="520569" cy="35832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13</a:t>
            </a:r>
            <a:endParaRPr lang="ko-KR" alt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310856" y="4191391"/>
            <a:ext cx="10166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SWITCH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14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49952" y="78278"/>
            <a:ext cx="3429479" cy="52680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모서리가 둥근 직사각형 2"/>
          <p:cNvSpPr/>
          <p:nvPr/>
        </p:nvSpPr>
        <p:spPr>
          <a:xfrm>
            <a:off x="115330" y="148281"/>
            <a:ext cx="1276865" cy="469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신규보드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4757" y="4728519"/>
            <a:ext cx="98571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-. </a:t>
            </a:r>
            <a:r>
              <a:rPr lang="ko-KR" altLang="en-US" dirty="0" smtClean="0"/>
              <a:t>외부 입력 전원은 </a:t>
            </a:r>
            <a:r>
              <a:rPr lang="en-US" altLang="ko-KR" dirty="0" smtClean="0"/>
              <a:t>12V</a:t>
            </a:r>
            <a:r>
              <a:rPr lang="ko-KR" altLang="en-US" dirty="0" smtClean="0"/>
              <a:t>로 고정</a:t>
            </a:r>
            <a:r>
              <a:rPr lang="en-US" altLang="ko-KR" dirty="0" smtClean="0"/>
              <a:t>,,  pan </a:t>
            </a:r>
            <a:r>
              <a:rPr lang="ko-KR" altLang="en-US" dirty="0" err="1" smtClean="0"/>
              <a:t>전압하고</a:t>
            </a:r>
            <a:r>
              <a:rPr lang="ko-KR" altLang="en-US" dirty="0" smtClean="0"/>
              <a:t> 같이 사용해야 함</a:t>
            </a:r>
            <a:r>
              <a:rPr lang="en-US" altLang="ko-KR" dirty="0" smtClean="0"/>
              <a:t>,, 12V </a:t>
            </a:r>
            <a:r>
              <a:rPr lang="ko-KR" altLang="en-US" dirty="0" smtClean="0"/>
              <a:t>전원 하나 더 만들자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-. </a:t>
            </a:r>
            <a:r>
              <a:rPr lang="ko-KR" altLang="en-US" dirty="0" smtClean="0"/>
              <a:t>팬 핀 뒤집혀 있음</a:t>
            </a:r>
            <a:r>
              <a:rPr lang="en-US" altLang="ko-KR" dirty="0" smtClean="0"/>
              <a:t>.  </a:t>
            </a:r>
            <a:r>
              <a:rPr lang="ko-KR" altLang="en-US" dirty="0" smtClean="0"/>
              <a:t>수정 필요 </a:t>
            </a:r>
            <a:endParaRPr lang="en-US" altLang="ko-KR" dirty="0" smtClean="0"/>
          </a:p>
          <a:p>
            <a:r>
              <a:rPr lang="en-US" altLang="ko-KR" dirty="0" smtClean="0"/>
              <a:t>-. </a:t>
            </a:r>
            <a:r>
              <a:rPr lang="ko-KR" altLang="en-US" dirty="0" smtClean="0"/>
              <a:t>전원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하나 있어야 될 듯하고</a:t>
            </a:r>
            <a:r>
              <a:rPr lang="en-US" altLang="ko-KR" dirty="0" smtClean="0"/>
              <a:t>,, 485 </a:t>
            </a:r>
            <a:r>
              <a:rPr lang="ko-KR" altLang="en-US" dirty="0" smtClean="0"/>
              <a:t>쪽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어떻게 사용할지 협의 필요</a:t>
            </a:r>
            <a:endParaRPr lang="en-US" altLang="ko-KR" dirty="0" smtClean="0"/>
          </a:p>
          <a:p>
            <a:r>
              <a:rPr lang="en-US" altLang="ko-KR" dirty="0" smtClean="0"/>
              <a:t>-. EEPROM </a:t>
            </a:r>
            <a:r>
              <a:rPr lang="ko-KR" altLang="en-US" dirty="0" smtClean="0"/>
              <a:t>새로 구매 필요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33968" y="997568"/>
            <a:ext cx="397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Cwt_th03s </a:t>
            </a:r>
            <a:r>
              <a:rPr lang="ko-KR" altLang="en-US" dirty="0" smtClean="0"/>
              <a:t>외부 온</a:t>
            </a:r>
            <a:r>
              <a:rPr lang="en-US" altLang="ko-KR" dirty="0" smtClean="0"/>
              <a:t>/</a:t>
            </a:r>
            <a:r>
              <a:rPr lang="ko-KR" altLang="en-US" dirty="0" smtClean="0"/>
              <a:t>습도 테스트 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409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2736</TotalTime>
  <Words>495</Words>
  <Application>Microsoft Office PowerPoint</Application>
  <PresentationFormat>와이드스크린</PresentationFormat>
  <Paragraphs>137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sanghyun choi</dc:creator>
  <cp:lastModifiedBy>hms@ubiwave.co.kr</cp:lastModifiedBy>
  <cp:revision>131</cp:revision>
  <dcterms:created xsi:type="dcterms:W3CDTF">2025-03-07T08:46:08Z</dcterms:created>
  <dcterms:modified xsi:type="dcterms:W3CDTF">2026-05-21T23:38:19Z</dcterms:modified>
</cp:coreProperties>
</file>